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00b4f01a0a2428b" /><Relationship Type="http://schemas.openxmlformats.org/package/2006/relationships/metadata/core-properties" Target="/docProps/core.xml" Id="R48ea661ed2ab4b7e" /><Relationship Type="http://schemas.openxmlformats.org/officeDocument/2006/relationships/extended-properties" Target="/docProps/app.xml" Id="R20bc6270a39746e4" /><Relationship Type="http://schemas.openxmlformats.org/officeDocument/2006/relationships/custom-properties" Target="/docProps/custom.xml" Id="Rc19069462c184cc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dfe536439c54e85"/>
  </p:notesMasterIdLst>
  <p:sldIdLst>
    <p:sldId id="256" r:id="R016068fe360240bf"/>
    <p:sldId id="257" r:id="R563cc08a386f4bd6"/>
    <p:sldId id="258" r:id="R8f363dc344ad4329"/>
    <p:sldId id="259" r:id="R90bda9ca5d354fb1"/>
    <p:sldId id="260" r:id="R1373eeda3cce46f8"/>
    <p:sldId id="261" r:id="R76bc4597bdad4a65"/>
    <p:sldId id="262" r:id="R768adfcbfb4444e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16068fe360240bf" /><Relationship Type="http://schemas.openxmlformats.org/officeDocument/2006/relationships/notesMaster" Target="/ppt/notesMasters/notesMaster1.xml" Id="R7dfe536439c54e85" /><Relationship Type="http://schemas.openxmlformats.org/officeDocument/2006/relationships/slide" Target="/ppt/slides/slide2.xml" Id="R563cc08a386f4bd6" /><Relationship Type="http://schemas.openxmlformats.org/officeDocument/2006/relationships/slide" Target="/ppt/slides/slide3.xml" Id="R8f363dc344ad4329" /><Relationship Type="http://schemas.openxmlformats.org/officeDocument/2006/relationships/slide" Target="/ppt/slides/slide4.xml" Id="R90bda9ca5d354fb1" /><Relationship Type="http://schemas.openxmlformats.org/officeDocument/2006/relationships/slide" Target="/ppt/slides/slide5.xml" Id="R1373eeda3cce46f8" /><Relationship Type="http://schemas.openxmlformats.org/officeDocument/2006/relationships/slide" Target="/ppt/slides/slide6.xml" Id="R76bc4597bdad4a65" /><Relationship Type="http://schemas.openxmlformats.org/officeDocument/2006/relationships/slide" Target="/ppt/slides/slide7.xml" Id="R768adfcbfb4444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6d0cd7a7f348a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1b3da537ba04062" /><Relationship Type="http://schemas.openxmlformats.org/officeDocument/2006/relationships/slide" Target="/ppt/slides/slide1.xml" Id="R24b421bda1a446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13dccc0ace84c60" /><Relationship Type="http://schemas.openxmlformats.org/officeDocument/2006/relationships/slide" Target="/ppt/slides/slide2.xml" Id="R3d6ea63571d248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de7ba3dc8734938" /><Relationship Type="http://schemas.openxmlformats.org/officeDocument/2006/relationships/slide" Target="/ppt/slides/slide3.xml" Id="R444cb9ad1b7046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99adfbf3d946c4" /><Relationship Type="http://schemas.openxmlformats.org/officeDocument/2006/relationships/slide" Target="/ppt/slides/slide4.xml" Id="R431198e93e094d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9e044a774c4ce5" /><Relationship Type="http://schemas.openxmlformats.org/officeDocument/2006/relationships/slide" Target="/ppt/slides/slide5.xml" Id="R6e3850b3390b4e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2a7f31b0e96457c" /><Relationship Type="http://schemas.openxmlformats.org/officeDocument/2006/relationships/slide" Target="/ppt/slides/slide6.xml" Id="Ra341feb2902142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e9757f817a245bc" /><Relationship Type="http://schemas.openxmlformats.org/officeDocument/2006/relationships/slide" Target="/ppt/slides/slide7.xml" Id="Ra419adb8493e42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— Title. CrisisAI is our IBM Bob Hackathon submission in the AI track. Team: Janvi Prajapati (lead), Krima Parmar, Hemangi Parmar, Vidhi Patel.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— Problem. Emergency dispatchers face information overload during disasters. Duplicate reports, no cross-report linkage, and delayed severity recognition cost lives.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 — Solution. We built a full-stack AI emergency operations platform. The core result: 50 noisy reports reduced to 18 actionable incidents, with the highest-priority incident (railway station flood, 11 merged reports) surfaced first.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 — Architecture. Four-stage pipeline: AI extraction → TF-IDF similarity search → deduplication decision → evidence synthesis and priority scoring → React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 — IBM Technology. Two distinct IBM technologies: watsonx.ai Granite handles LLM inference at runtime; IBM Bob was the AI coding assistant used across 3 days of development.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6 — Results. Core demo: 50 reports to 18 incidents. The railway station flood incident merges 11 reports, surfaces as Critical priority with evidence and recommended action. Evaluation measured on our 50-record curated dataset.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7 — Impact and Limitations. We are honest about what this prototype does and what it cannot do. It demonstrates the pipeline on synthetic data and is not production-ready without further validation.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03adb78d141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56f844c7a4a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cf3c25b374e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9817a659647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1ddbe9ef141a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78fa022527b4de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010ed08cd412c" /><Relationship Type="http://schemas.openxmlformats.org/officeDocument/2006/relationships/notesSlide" Target="/ppt/notesSlides/notesSlide1.xml" Id="Rc57bcda3d65842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2447db9754a12" /><Relationship Type="http://schemas.openxmlformats.org/officeDocument/2006/relationships/notesSlide" Target="/ppt/notesSlides/notesSlide2.xml" Id="Ra96f185ba6b347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481e33f1d4e0c" /><Relationship Type="http://schemas.openxmlformats.org/officeDocument/2006/relationships/notesSlide" Target="/ppt/notesSlides/notesSlide3.xml" Id="Rdeb53e010b29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8bff5b6304794" /><Relationship Type="http://schemas.openxmlformats.org/officeDocument/2006/relationships/notesSlide" Target="/ppt/notesSlides/notesSlide4.xml" Id="R9ccaa5e4cac948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63416f5324d10" /><Relationship Type="http://schemas.openxmlformats.org/officeDocument/2006/relationships/notesSlide" Target="/ppt/notesSlides/notesSlide5.xml" Id="R7c615f545e614e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ff9176bc743e8" /><Relationship Type="http://schemas.openxmlformats.org/officeDocument/2006/relationships/notesSlide" Target="/ppt/notesSlides/notesSlide6.xml" Id="Rbebf203fd2f146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db9c0ff0e46f7" /><Relationship Type="http://schemas.openxmlformats.org/officeDocument/2006/relationships/notesSlide" Target="/ppt/notesSlides/notesSlide7.xml" Id="R08928b68b43246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"/>
          <p:cNvSpPr txBox="1"/>
          <p:nvPr/>
        </p:nvSpPr>
        <p:spPr>
          <a:xfrm xmlns:a="http://schemas.openxmlformats.org/drawingml/2006/main">
            <a:off x="720000" y="1080000"/>
            <a:ext cx="10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E8F0FE"/>
                </a:solidFill>
                <a:latin typeface="Calibri"/>
                <a:ea typeface="Calibri"/>
              </a:rPr>
              <a:t>CrisisAI</a:t>
            </a:r>
          </a:p>
        </p:txBody>
      </p:sp>
      <p:sp>
        <p:nvSpPr>
          <p:cNvPr id="100001" name="Subtitle"/>
          <p:cNvSpPr txBox="1"/>
          <p:nvPr/>
        </p:nvSpPr>
        <p:spPr>
          <a:xfrm xmlns:a="http://schemas.openxmlformats.org/drawingml/2006/main">
            <a:off x="720000" y="2700000"/>
            <a:ext cx="104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90B4FF"/>
                </a:solidFill>
                <a:latin typeface="Calibri"/>
                <a:ea typeface="Calibri"/>
              </a:rPr>
              <a:t>Emergency Incident Prioritization &amp; Deduplication Dashboard</a:t>
            </a:r>
          </a:p>
        </p:txBody>
      </p:sp>
      <p:sp>
        <p:nvSpPr>
          <p:cNvPr id="100002" name="Team"/>
          <p:cNvSpPr txBox="1"/>
          <p:nvPr/>
        </p:nvSpPr>
        <p:spPr>
          <a:xfrm xmlns:a="http://schemas.openxmlformats.org/drawingml/2006/main">
            <a:off x="720000" y="396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0C8E0"/>
                </a:solidFill>
                <a:latin typeface="Calibri"/>
                <a:ea typeface="Calibri"/>
              </a:rPr>
              <a:t>Team: CrisisAI Team  |  Track: AI  |  IBM Bob Hackathon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3" name="Slide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6B6B"/>
                </a:solidFill>
                <a:latin typeface="Calibri"/>
                <a:ea typeface="Calibri"/>
              </a:rPr>
              <a:t>The Problem</a:t>
            </a:r>
          </a:p>
        </p:txBody>
      </p:sp>
      <p:sp>
        <p:nvSpPr>
          <p:cNvPr id="100004" name="Body"/>
          <p:cNvSpPr txBox="1"/>
          <p:nvPr/>
        </p:nvSpPr>
        <p:spPr>
          <a:xfrm xmlns:a="http://schemas.openxmlformats.org/drawingml/2006/main">
            <a:off x="720000" y="1260000"/>
            <a:ext cx="1044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During a major disaster, emergency dispatch centers receive hundreds of fragmented, unstructured reports simultaneously.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Multiple reports describe the SAME event in different words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Dispatchers manually create duplicate tickets — missing the critical signal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No system assembles corroborating evidence across reports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Life-threatening incidents are buried under noise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Example: 11 separate reports about a flooded railway station — each treated as a new ticket. No one sees the full picture: elderly people trapped, water chest-height, rising fast.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5" name="Slide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4FC3F7"/>
                </a:solidFill>
                <a:latin typeface="Calibri"/>
                <a:ea typeface="Calibri"/>
              </a:rPr>
              <a:t>Our Solution: CrisisAI</a:t>
            </a:r>
          </a:p>
        </p:txBody>
      </p:sp>
      <p:sp>
        <p:nvSpPr>
          <p:cNvPr id="100006" name="Body"/>
          <p:cNvSpPr txBox="1"/>
          <p:nvPr/>
        </p:nvSpPr>
        <p:spPr>
          <a:xfrm xmlns:a="http://schemas.openxmlformats.org/drawingml/2006/main">
            <a:off x="720000" y="1260000"/>
            <a:ext cx="1044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CrisisAI converts noisy emergency reports into consolidated, prioritized incidents for emergency command-center decision support.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50 raw reports  →  AI extraction  →  Deduplication  →  18 actionable incidents  →  Priority ranking  →  Command Center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Key capabilities: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NLP Information Extraction — type, location, urgency, people at risk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TF-IDF N-gram cosine similarity — deduplicates corroborating reports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Evidence synthesis — aggregates signals across all merged reports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Multi-factor priority scoring — urgency + human risk + corroboration</a:t>
            </a:r>
          </a:p>
          <a:p xmlns:a="http://schemas.openxmlformats.org/drawingml/2006/main">
            <a:r>
              <a:rPr lang="en-US" sz="1800">
                <a:solidFill>
                  <a:srgbClr val="D0D8F0"/>
                </a:solidFill>
                <a:latin typeface="Calibri"/>
                <a:ea typeface="Calibri"/>
              </a:rPr>
              <a:t>• Interactive command-center dashboard with tactical map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7" name="Slide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4FC3F7"/>
                </a:solidFill>
                <a:latin typeface="Calibri"/>
                <a:ea typeface="Calibri"/>
              </a:rPr>
              <a:t>How It Works — Architecture</a:t>
            </a:r>
          </a:p>
        </p:txBody>
      </p:sp>
      <p:sp>
        <p:nvSpPr>
          <p:cNvPr id="100008" name="Body"/>
          <p:cNvSpPr txBox="1"/>
          <p:nvPr/>
        </p:nvSpPr>
        <p:spPr>
          <a:xfrm xmlns:a="http://schemas.openxmlformats.org/drawingml/2006/main">
            <a:off x="720000" y="1260000"/>
            <a:ext cx="10440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Raw citizen reports  (SMS / App / Web)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     ↓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[1] AI Information Extraction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IBM Granite (watsonx.ai)  OR  Local NLP engine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→ incident_type, location, urgency, people_at_risk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     ↓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[2] TF-IDF N-gram Similarity + Cosine Distance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composite = text_sim + location/type corroboration bonus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threshold = 0.55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     ↓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[3] Deduplication Decision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score &gt;= 0.55  →  Merge into existing incident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score &lt; 0.55   →  Create new incident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     ↓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[4] Evidence Synthesis + Priority Scoring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score = urgency_base + category + human_risk + log2(report_count+1) × 60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          ↓</a:t>
            </a:r>
          </a:p>
          <a:p xmlns:a="http://schemas.openxmlformats.org/drawingml/2006/main">
            <a:r>
              <a:rPr lang="en-US" sz="1600">
                <a:solidFill>
                  <a:srgbClr val="D0D8F0"/>
                </a:solidFill>
                <a:latin typeface="Calibri"/>
                <a:ea typeface="Calibri"/>
              </a:rPr>
              <a:t>React Emergency Command Center Dashboard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9" name="Slide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4FC3F7"/>
                </a:solidFill>
                <a:latin typeface="Calibri"/>
                <a:ea typeface="Calibri"/>
              </a:rPr>
              <a:t>IBM Technology Used</a:t>
            </a:r>
          </a:p>
        </p:txBody>
      </p:sp>
      <p:sp>
        <p:nvSpPr>
          <p:cNvPr id="100010" name="WatsonxTitle"/>
          <p:cNvSpPr txBox="1"/>
          <p:nvPr/>
        </p:nvSpPr>
        <p:spPr>
          <a:xfrm xmlns:a="http://schemas.openxmlformats.org/drawingml/2006/main">
            <a:off x="720000" y="1260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7EC8E3"/>
                </a:solidFill>
                <a:latin typeface="Calibri"/>
                <a:ea typeface="Calibri"/>
              </a:rPr>
              <a:t>IBM watsonx.ai / Granite 3.0  —  Runtime Inference</a:t>
            </a:r>
          </a:p>
        </p:txBody>
      </p:sp>
      <p:sp>
        <p:nvSpPr>
          <p:cNvPr id="100011" name="WatsonxBody"/>
          <p:cNvSpPr txBox="1"/>
          <p:nvPr/>
        </p:nvSpPr>
        <p:spPr>
          <a:xfrm xmlns:a="http://schemas.openxmlformats.org/drawingml/2006/main">
            <a:off x="720000" y="1800000"/>
            <a:ext cx="104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LLM-based structured information extraction when AI_MODE=watsonx is configured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Model: ibm/granite-3-8b-instruct via watsonx.ai REST API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IBM Cloud IAM OAuth Bearer token authentication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Automatic fallback to local NLP engine if API call fails</a:t>
            </a:r>
          </a:p>
        </p:txBody>
      </p:sp>
      <p:sp>
        <p:nvSpPr>
          <p:cNvPr id="100012" name="BobTitle"/>
          <p:cNvSpPr txBox="1"/>
          <p:nvPr/>
        </p:nvSpPr>
        <p:spPr>
          <a:xfrm xmlns:a="http://schemas.openxmlformats.org/drawingml/2006/main">
            <a:off x="720000" y="3240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B39DDB"/>
                </a:solidFill>
                <a:latin typeface="Calibri"/>
                <a:ea typeface="Calibri"/>
              </a:rPr>
              <a:t>IBM Bob  —  Development Engineering Assistance</a:t>
            </a:r>
          </a:p>
        </p:txBody>
      </p:sp>
      <p:sp>
        <p:nvSpPr>
          <p:cNvPr id="100013" name="BobBody"/>
          <p:cNvSpPr txBox="1"/>
          <p:nvPr/>
        </p:nvSpPr>
        <p:spPr>
          <a:xfrm xmlns:a="http://schemas.openxmlformats.org/drawingml/2006/main">
            <a:off x="720000" y="3780000"/>
            <a:ext cx="10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Drafted Pydantic schemas, SQLAlchemy models, and FastAPI endpoints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Generated TF-IDF similarity engine with entity corroboration logic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Debugged deduplication edge cases and priority scoring formula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Wrote automated test suite and ML evaluation script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Bob was used for development — not for runtime inference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4" name="Slide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4FC3F7"/>
                </a:solidFill>
                <a:latin typeface="Calibri"/>
                <a:ea typeface="Calibri"/>
              </a:rPr>
              <a:t>Demo Results</a:t>
            </a:r>
          </a:p>
        </p:txBody>
      </p:sp>
      <p:sp>
        <p:nvSpPr>
          <p:cNvPr id="100015" name="Body"/>
          <p:cNvSpPr txBox="1"/>
          <p:nvPr/>
        </p:nvSpPr>
        <p:spPr>
          <a:xfrm xmlns:a="http://schemas.openxmlformats.org/drawingml/2006/main">
            <a:off x="720000" y="1260000"/>
            <a:ext cx="104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50 reports  →  18 unique incidents  (64% deduplication)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🔴 Critical  5   Railway Station Flood, Market Fire, Gas Leak, Bridge Damage, Sector 4 Collapse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🟠 High      6   Fallen Tree, Power Line, Highway Pileup, Water Main, Wildfire, Substation Fire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🟡 Medium    4   Signal Outage, Mudslide, Drainage Overflow, Storefront Damage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🟢 Low       3   Water Gauge, Tree Trimming, Streetlight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Highlighted incident — Railway Station Flood (Critical):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• 11 reports merged into 1 incident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• People at risk: Yes (elderly residents trapped)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• AI evidence: 3 reports mention trapped people, 2 mention rising water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• Recommended action: Prioritize rescue assessment. Deploy swift water rescue and evacuation team.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Evaluation (50-record set):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  Urgency accuracy 100%  |  Incident-type accuracy 98%  |  Clustering ARI 1.000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6" name="SlideTitle"/>
          <p:cNvSpPr txBox="1"/>
          <p:nvPr/>
        </p:nvSpPr>
        <p:spPr>
          <a:xfrm xmlns:a="http://schemas.openxmlformats.org/drawingml/2006/main">
            <a:off x="720000" y="36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4FC3F7"/>
                </a:solidFill>
                <a:latin typeface="Calibri"/>
                <a:ea typeface="Calibri"/>
              </a:rPr>
              <a:t>Impact &amp; Limitations</a:t>
            </a:r>
          </a:p>
        </p:txBody>
      </p:sp>
      <p:sp>
        <p:nvSpPr>
          <p:cNvPr id="100017" name="ImpactTitle"/>
          <p:cNvSpPr txBox="1"/>
          <p:nvPr/>
        </p:nvSpPr>
        <p:spPr>
          <a:xfrm xmlns:a="http://schemas.openxmlformats.org/drawingml/2006/main">
            <a:off x="720000" y="126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81C784"/>
                </a:solidFill>
                <a:latin typeface="Calibri"/>
                <a:ea typeface="Calibri"/>
              </a:rPr>
              <a:t>Impact</a:t>
            </a:r>
          </a:p>
        </p:txBody>
      </p:sp>
      <p:sp>
        <p:nvSpPr>
          <p:cNvPr id="100018" name="ImpactBody"/>
          <p:cNvSpPr txBox="1"/>
          <p:nvPr/>
        </p:nvSpPr>
        <p:spPr>
          <a:xfrm xmlns:a="http://schemas.openxmlformats.org/drawingml/2006/main">
            <a:off x="720000" y="1800000"/>
            <a:ext cx="504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Reduces duplicate information overload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Surfaces critical incidents faster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Evidence-backed prioritization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Supports human decision-makers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Improves situational awareness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Works offline without IBM credentials</a:t>
            </a:r>
          </a:p>
        </p:txBody>
      </p:sp>
      <p:sp>
        <p:nvSpPr>
          <p:cNvPr id="100019" name="LimitTitle"/>
          <p:cNvSpPr txBox="1"/>
          <p:nvPr/>
        </p:nvSpPr>
        <p:spPr>
          <a:xfrm xmlns:a="http://schemas.openxmlformats.org/drawingml/2006/main">
            <a:off x="6120000" y="126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8A65"/>
                </a:solidFill>
                <a:latin typeface="Calibri"/>
                <a:ea typeface="Calibri"/>
              </a:rPr>
              <a:t>Limitations (Honest)</a:t>
            </a:r>
          </a:p>
        </p:txBody>
      </p:sp>
      <p:sp>
        <p:nvSpPr>
          <p:cNvPr id="100020" name="LimitBody"/>
          <p:cNvSpPr txBox="1"/>
          <p:nvPr/>
        </p:nvSpPr>
        <p:spPr>
          <a:xfrm xmlns:a="http://schemas.openxmlformats.org/drawingml/2006/main">
            <a:off x="6120000" y="1800000"/>
            <a:ext cx="504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Synthetic demo dataset only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SQLite — not production-scale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Landmark-based geocoding only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Threshold tuning needs real data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Human oversight required</a:t>
            </a:r>
          </a:p>
          <a:p xmlns:a="http://schemas.openxmlformats.org/drawingml/2006/main">
            <a:r>
              <a:rPr lang="en-US" sz="1700">
                <a:solidFill>
                  <a:srgbClr val="D0D8F0"/>
                </a:solidFill>
                <a:latin typeface="Calibri"/>
                <a:ea typeface="Calibri"/>
              </a:rPr>
              <a:t>• No live dispatch integration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2026-09-15T06:02:02Z</dcterms:created>
  <cp:lastModifiedBy>OfficeCLI</cp:lastModifiedBy>
  <dcterms:modified xsi:type="dcterms:W3CDTF">2026-09-15T06:02:02Z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2026-09-15T06:02:04Z</vt:lpwstr>
  </op:property>
</op:Properties>
</file>